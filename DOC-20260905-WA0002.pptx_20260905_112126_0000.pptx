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Times New Roman Bold" charset="1" panose="02020803070505020304"/>
      <p:regular r:id="rId12"/>
    </p:embeddedFont>
    <p:embeddedFont>
      <p:font typeface="Arimo Bold" charset="1" panose="020B0704020202020204"/>
      <p:regular r:id="rId13"/>
    </p:embeddedFont>
    <p:embeddedFont>
      <p:font typeface="Aptos" charset="1" panose="020B0004020202020204"/>
      <p:regular r:id="rId14"/>
    </p:embeddedFont>
    <p:embeddedFont>
      <p:font typeface="Aptos Bold" charset="1" panose="020B0004020202020204"/>
      <p:regular r:id="rId18"/>
    </p:embeddedFont>
    <p:embeddedFont>
      <p:font typeface="Arimo" charset="1" panose="020B0604020202020204"/>
      <p:regular r:id="rId19"/>
    </p:embeddedFont>
    <p:embeddedFont>
      <p:font typeface="Calibri (MS)" charset="1" panose="020F050202020403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notesMasters/notesMaster1.xml" Type="http://schemas.openxmlformats.org/officeDocument/2006/relationships/notesMaster"/><Relationship Id="rId16" Target="theme/theme2.xml" Type="http://schemas.openxmlformats.org/officeDocument/2006/relationships/theme"/><Relationship Id="rId17" Target="notesSlides/notesSlide1.xml" Type="http://schemas.openxmlformats.org/officeDocument/2006/relationships/notes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431965" y="1663859"/>
            <a:ext cx="6957908" cy="7732452"/>
          </a:xfrm>
          <a:custGeom>
            <a:avLst/>
            <a:gdLst/>
            <a:ahLst/>
            <a:cxnLst/>
            <a:rect r="r" b="b" t="t" l="l"/>
            <a:pathLst>
              <a:path h="7732452" w="6957908">
                <a:moveTo>
                  <a:pt x="0" y="0"/>
                </a:moveTo>
                <a:lnTo>
                  <a:pt x="6957908" y="0"/>
                </a:lnTo>
                <a:lnTo>
                  <a:pt x="6957908" y="7732452"/>
                </a:lnTo>
                <a:lnTo>
                  <a:pt x="0" y="7732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359411" y="3227055"/>
            <a:ext cx="4805267" cy="5139357"/>
            <a:chOff x="0" y="0"/>
            <a:chExt cx="6407023" cy="68524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07023" cy="6852412"/>
            </a:xfrm>
            <a:custGeom>
              <a:avLst/>
              <a:gdLst/>
              <a:ahLst/>
              <a:cxnLst/>
              <a:rect r="r" b="b" t="t" l="l"/>
              <a:pathLst>
                <a:path h="6852412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49475" b="-1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2222843" y="960330"/>
            <a:ext cx="12618720" cy="1438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</a:p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FARMPLUG AI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522332" y="-280054"/>
            <a:ext cx="15544800" cy="3114675"/>
            <a:chOff x="0" y="0"/>
            <a:chExt cx="20726400" cy="4152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6400" cy="4152900"/>
            </a:xfrm>
            <a:custGeom>
              <a:avLst/>
              <a:gdLst/>
              <a:ahLst/>
              <a:cxnLst/>
              <a:rect r="r" b="b" t="t" l="l"/>
              <a:pathLst>
                <a:path h="41529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246" r="0" b="-4724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SMART INDIA HACKATHON 2026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22332" y="3303806"/>
            <a:ext cx="19819267" cy="5454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48"/>
              </a:lnSpc>
            </a:pPr>
            <a:r>
              <a:rPr lang="en-US" sz="3584" spc="-32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⁠• </a:t>
            </a:r>
            <a:r>
              <a:rPr lang="en-US" sz="3584" spc="-32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Problem Statement ID – 26033</a:t>
            </a:r>
          </a:p>
          <a:p>
            <a:pPr algn="l">
              <a:lnSpc>
                <a:spcPts val="7348"/>
              </a:lnSpc>
            </a:pPr>
            <a:r>
              <a:rPr lang="en-US" sz="3584" spc="-32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⁠• Problem Statement Title – [To be filled]</a:t>
            </a:r>
          </a:p>
          <a:p>
            <a:pPr algn="l">
              <a:lnSpc>
                <a:spcPts val="7348"/>
              </a:lnSpc>
            </a:pPr>
            <a:r>
              <a:rPr lang="en-US" sz="3584" spc="-32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⁠• Theme – Agriculture, FoodTech &amp; Rural Development</a:t>
            </a:r>
          </a:p>
          <a:p>
            <a:pPr algn="l">
              <a:lnSpc>
                <a:spcPts val="7348"/>
              </a:lnSpc>
            </a:pPr>
            <a:r>
              <a:rPr lang="en-US" sz="3584" spc="-32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• PS Category – Software</a:t>
            </a:r>
          </a:p>
          <a:p>
            <a:pPr algn="l">
              <a:lnSpc>
                <a:spcPts val="7348"/>
              </a:lnSpc>
            </a:pPr>
            <a:r>
              <a:rPr lang="en-US" sz="3584" spc="-32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⁠• Team ID – [To be filled]</a:t>
            </a:r>
          </a:p>
          <a:p>
            <a:pPr algn="l">
              <a:lnSpc>
                <a:spcPts val="7348"/>
              </a:lnSpc>
            </a:pPr>
            <a:r>
              <a:rPr lang="en-US" sz="3584" spc="-32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• Team Name (Registered on portal) – [To be filled]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4762045" y="9449"/>
            <a:ext cx="3313681" cy="1684306"/>
            <a:chOff x="0" y="0"/>
            <a:chExt cx="4418241" cy="2245741"/>
          </a:xfrm>
        </p:grpSpPr>
        <p:sp>
          <p:nvSpPr>
            <p:cNvPr name="Freeform 11" id="11" descr="https://www.sih.gov.in/img1/SIH-Logo.png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4501" y="0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IDEA TITLE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56699" y="2546411"/>
            <a:ext cx="18237203" cy="6248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      </a:t>
            </a:r>
            <a:r>
              <a:rPr lang="en-US" sz="2600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Proposed Solution</a:t>
            </a:r>
          </a:p>
          <a:p>
            <a:pPr algn="l" marL="470535" indent="-235268" lvl="1">
              <a:lnSpc>
                <a:spcPts val="3120"/>
              </a:lnSpc>
            </a:pPr>
            <a:r>
              <a:rPr lang="en-US" sz="2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• AI platform connecting farmer/FPO supply with buyers, processors and exporters.</a:t>
            </a:r>
          </a:p>
          <a:p>
            <a:pPr algn="l" marL="470535" indent="-235268" lvl="1">
              <a:lnSpc>
                <a:spcPts val="3120"/>
              </a:lnSpc>
            </a:pPr>
            <a:r>
              <a:rPr lang="en-US" sz="2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• Predicts demand and aligns available supply with market needs.</a:t>
            </a:r>
          </a:p>
          <a:p>
            <a:pPr algn="l" marL="470535" indent="-235268" lvl="1">
              <a:lnSpc>
                <a:spcPts val="3120"/>
              </a:lnSpc>
            </a:pPr>
          </a:p>
          <a:p>
            <a:pPr algn="l" marL="470535" indent="-235268" lvl="1">
              <a:lnSpc>
                <a:spcPts val="3120"/>
              </a:lnSpc>
            </a:pPr>
            <a:r>
              <a:rPr lang="en-US" b="true" sz="260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Detailed explanation</a:t>
            </a:r>
          </a:p>
          <a:p>
            <a:pPr algn="l" marL="470535" indent="-235268" lvl="1">
              <a:lnSpc>
                <a:spcPts val="3120"/>
              </a:lnSpc>
            </a:pPr>
            <a:r>
              <a:rPr lang="en-US" sz="2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• Demand forecasting • Crop/production decision support • FreshLife selling-window prediction</a:t>
            </a:r>
          </a:p>
          <a:p>
            <a:pPr algn="l" marL="470535" indent="-235268" lvl="1">
              <a:lnSpc>
                <a:spcPts val="3120"/>
              </a:lnSpc>
            </a:pPr>
            <a:r>
              <a:rPr lang="en-US" sz="2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• Smart buyer matching • Supply aggregation • Basic route optimization</a:t>
            </a:r>
          </a:p>
          <a:p>
            <a:pPr algn="l" marL="470535" indent="-235268" lvl="1">
              <a:lnSpc>
                <a:spcPts val="3120"/>
              </a:lnSpc>
            </a:pPr>
          </a:p>
          <a:p>
            <a:pPr algn="l" marL="470535" indent="-235268" lvl="1">
              <a:lnSpc>
                <a:spcPts val="3120"/>
              </a:lnSpc>
            </a:pPr>
            <a:r>
              <a:rPr lang="en-US" b="true" sz="260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How it addresses the problem</a:t>
            </a:r>
          </a:p>
          <a:p>
            <a:pPr algn="l" marL="470535" indent="-235268" lvl="1">
              <a:lnSpc>
                <a:spcPts val="3120"/>
              </a:lnSpc>
            </a:pPr>
            <a:r>
              <a:rPr lang="en-US" sz="2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• Aligns production and supply with forward demand.</a:t>
            </a:r>
          </a:p>
          <a:p>
            <a:pPr algn="l" marL="470535" indent="-235268" lvl="1">
              <a:lnSpc>
                <a:spcPts val="3120"/>
              </a:lnSpc>
            </a:pPr>
            <a:r>
              <a:rPr lang="en-US" sz="2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• Improves buyer discovery and bulk-order fulfilment.</a:t>
            </a:r>
          </a:p>
          <a:p>
            <a:pPr algn="l" marL="470535" indent="-235268" lvl="1">
              <a:lnSpc>
                <a:spcPts val="3120"/>
              </a:lnSpc>
            </a:pPr>
            <a:r>
              <a:rPr lang="en-US" sz="2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• Reduces losses from missed selling windows.</a:t>
            </a:r>
          </a:p>
          <a:p>
            <a:pPr algn="l" marL="470535" indent="-235268" lvl="1">
              <a:lnSpc>
                <a:spcPts val="3120"/>
              </a:lnSpc>
            </a:pPr>
          </a:p>
          <a:p>
            <a:pPr algn="l" marL="470535" indent="-235268" lvl="1">
              <a:lnSpc>
                <a:spcPts val="3120"/>
              </a:lnSpc>
            </a:pPr>
            <a:r>
              <a:rPr lang="en-US" b="true" sz="260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Innovation &amp; uniqueness</a:t>
            </a:r>
          </a:p>
          <a:p>
            <a:pPr algn="l" marL="470535" indent="-235268" lvl="1">
              <a:lnSpc>
                <a:spcPts val="3120"/>
              </a:lnSpc>
            </a:pPr>
            <a:r>
              <a:rPr lang="en-US" sz="2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• One predictive intelligence layer combines demand, supply, selling-window, matching and logistics intelligence.</a:t>
            </a:r>
          </a:p>
          <a:p>
            <a:pPr algn="l" marL="470535" indent="-235268" lvl="1">
              <a:lnSpc>
                <a:spcPts val="3120"/>
              </a:lnSpc>
            </a:pPr>
            <a:r>
              <a:rPr lang="en-US" sz="2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• Complements existing digital agricultural market infrastructure.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75612" y="359321"/>
            <a:ext cx="2223659" cy="1449757"/>
            <a:chOff x="0" y="0"/>
            <a:chExt cx="2554516" cy="1665465"/>
          </a:xfrm>
        </p:grpSpPr>
        <p:sp>
          <p:nvSpPr>
            <p:cNvPr name="Freeform 15" id="15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554516" cy="17035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FarmPlug AI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762045" y="85649"/>
            <a:ext cx="3313681" cy="1684306"/>
            <a:chOff x="0" y="0"/>
            <a:chExt cx="4418241" cy="2245741"/>
          </a:xfrm>
        </p:grpSpPr>
        <p:sp>
          <p:nvSpPr>
            <p:cNvPr name="Freeform 18" id="18" descr="https://www.sih.gov.in/img1/SIH-Logo.png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TECHNICAL APPROACH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475612" y="2668191"/>
            <a:ext cx="14027153" cy="5562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99"/>
              </a:lnSpc>
            </a:pPr>
            <a:r>
              <a:rPr lang="en-US" sz="2499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      </a:t>
            </a:r>
            <a:r>
              <a:rPr lang="en-US" sz="2499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Technologies</a:t>
            </a:r>
          </a:p>
          <a:p>
            <a:pPr algn="l" marL="452437" indent="-226219" lvl="1">
              <a:lnSpc>
                <a:spcPts val="2999"/>
              </a:lnSpc>
            </a:pPr>
            <a:r>
              <a:rPr lang="en-US" sz="249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• Frontend: Next.js + TypeScript + Tailwind CSS</a:t>
            </a:r>
          </a:p>
          <a:p>
            <a:pPr algn="l" marL="452437" indent="-226219" lvl="1">
              <a:lnSpc>
                <a:spcPts val="2999"/>
              </a:lnSpc>
            </a:pPr>
            <a:r>
              <a:rPr lang="en-US" sz="249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• Application/API: Next.js Route Handlers / Server Actions</a:t>
            </a:r>
          </a:p>
          <a:p>
            <a:pPr algn="l" marL="452437" indent="-226219" lvl="1">
              <a:lnSpc>
                <a:spcPts val="2999"/>
              </a:lnSpc>
            </a:pPr>
            <a:r>
              <a:rPr lang="en-US" sz="249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• AI Backend: Python + FastAPI</a:t>
            </a:r>
          </a:p>
          <a:p>
            <a:pPr algn="l" marL="452437" indent="-226219" lvl="1">
              <a:lnSpc>
                <a:spcPts val="2999"/>
              </a:lnSpc>
            </a:pPr>
            <a:r>
              <a:rPr lang="en-US" sz="249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• Database: PostgreSQL</a:t>
            </a:r>
          </a:p>
          <a:p>
            <a:pPr algn="l" marL="452437" indent="-226219" lvl="1">
              <a:lnSpc>
                <a:spcPts val="2999"/>
              </a:lnSpc>
            </a:pPr>
            <a:r>
              <a:rPr lang="en-US" sz="249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• AI/ML: Scikit-learn / PyTorch</a:t>
            </a:r>
          </a:p>
          <a:p>
            <a:pPr algn="l" marL="452437" indent="-226219" lvl="1">
              <a:lnSpc>
                <a:spcPts val="2999"/>
              </a:lnSpc>
            </a:pPr>
            <a:r>
              <a:rPr lang="en-US" sz="249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• Forecasting: Time-series models</a:t>
            </a:r>
          </a:p>
          <a:p>
            <a:pPr algn="l" marL="452437" indent="-226219" lvl="1">
              <a:lnSpc>
                <a:spcPts val="2999"/>
              </a:lnSpc>
            </a:pPr>
            <a:r>
              <a:rPr lang="en-US" sz="249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• Matching: Recommendation / ranking models</a:t>
            </a:r>
          </a:p>
          <a:p>
            <a:pPr algn="l" marL="452437" indent="-226219" lvl="1">
              <a:lnSpc>
                <a:spcPts val="2999"/>
              </a:lnSpc>
            </a:pPr>
            <a:r>
              <a:rPr lang="en-US" sz="249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• Optimization: Google OR-Tools</a:t>
            </a:r>
          </a:p>
          <a:p>
            <a:pPr algn="l" marL="452437" indent="-226219" lvl="1">
              <a:lnSpc>
                <a:spcPts val="2999"/>
              </a:lnSpc>
            </a:pPr>
            <a:r>
              <a:rPr lang="en-US" sz="249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• Maps: OpenStreetMap / mapping APIs</a:t>
            </a:r>
          </a:p>
          <a:p>
            <a:pPr algn="l" marL="452437" indent="-226219" lvl="1">
              <a:lnSpc>
                <a:spcPts val="2999"/>
              </a:lnSpc>
            </a:pPr>
            <a:r>
              <a:rPr lang="en-US" sz="249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• Infrastructure: Docker; Deployment: Vercel + cloud AI services</a:t>
            </a:r>
          </a:p>
          <a:p>
            <a:pPr algn="l" marL="452437" indent="-226219" lvl="1">
              <a:lnSpc>
                <a:spcPts val="2999"/>
              </a:lnSpc>
            </a:pPr>
          </a:p>
          <a:p>
            <a:pPr algn="l" marL="452437" indent="-226219" lvl="1">
              <a:lnSpc>
                <a:spcPts val="2999"/>
              </a:lnSpc>
            </a:pPr>
            <a:r>
              <a:rPr lang="en-US" b="true" sz="2499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Methodology / Implementation Flow</a:t>
            </a:r>
          </a:p>
          <a:p>
            <a:pPr algn="l" marL="452437" indent="-226219" lvl="1">
              <a:lnSpc>
                <a:spcPts val="2999"/>
              </a:lnSpc>
            </a:pPr>
            <a:r>
              <a:rPr lang="en-US" sz="249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FARMER / FPO → DATA LAYER → AI INTELLIGENCE → SUPPLY AGGREGATION → LOGISTICS &amp; ROUTE OPTIMIZATION → BUYERS / PROCESSORS / EXPORTERS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75612" y="359321"/>
            <a:ext cx="1915887" cy="1249099"/>
            <a:chOff x="0" y="0"/>
            <a:chExt cx="2554516" cy="1665465"/>
          </a:xfrm>
        </p:grpSpPr>
        <p:sp>
          <p:nvSpPr>
            <p:cNvPr name="Freeform 15" id="15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554516" cy="17035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FarmPlug AI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762045" y="85649"/>
            <a:ext cx="3313681" cy="1684306"/>
            <a:chOff x="0" y="0"/>
            <a:chExt cx="4418241" cy="2245741"/>
          </a:xfrm>
        </p:grpSpPr>
        <p:sp>
          <p:nvSpPr>
            <p:cNvPr name="Freeform 18" id="18" descr="https://www.sih.gov.in/img1/SIH-Logo.png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FEASIBILITY AND VIABILITY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734892" y="2686050"/>
            <a:ext cx="14027153" cy="491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40"/>
              </a:lnSpc>
            </a:pPr>
            <a:r>
              <a:rPr lang="en-US" b="true" sz="270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      </a:t>
            </a:r>
            <a:r>
              <a:rPr lang="en-US" b="true" sz="270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Feasibility</a:t>
            </a:r>
          </a:p>
          <a:p>
            <a:pPr algn="l" marL="488632" indent="-244316" lvl="1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• Mature AI/ML frameworks and cloud-based modular APIs.</a:t>
            </a:r>
          </a:p>
          <a:p>
            <a:pPr algn="l" marL="488632" indent="-244316" lvl="1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• Mobile-first design; no specialised hardware required for MVP.</a:t>
            </a:r>
          </a:p>
          <a:p>
            <a:pPr algn="l" marL="488632" indent="-244316" lvl="1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• Simple farmer/FPO listing, automated matching and FPO aggregation.</a:t>
            </a:r>
          </a:p>
          <a:p>
            <a:pPr algn="l" marL="488632" indent="-244316" lvl="1">
              <a:lnSpc>
                <a:spcPts val="3240"/>
              </a:lnSpc>
            </a:pPr>
          </a:p>
          <a:p>
            <a:pPr algn="l" marL="488632" indent="-244316" lvl="1">
              <a:lnSpc>
                <a:spcPts val="3240"/>
              </a:lnSpc>
            </a:pPr>
            <a:r>
              <a:rPr lang="en-US" b="true" sz="270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Potential Challenges &amp; Risks</a:t>
            </a:r>
          </a:p>
          <a:p>
            <a:pPr algn="l" marL="488632" indent="-244316" lvl="1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• Data quality / incomplete market and supply data • AI prediction errors</a:t>
            </a:r>
          </a:p>
          <a:p>
            <a:pPr algn="l" marL="488632" indent="-244316" lvl="1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• Low digital literacy • Supply inconsistency • Logistics constraints</a:t>
            </a:r>
          </a:p>
          <a:p>
            <a:pPr algn="l" marL="488632" indent="-244316" lvl="1">
              <a:lnSpc>
                <a:spcPts val="3240"/>
              </a:lnSpc>
            </a:pPr>
          </a:p>
          <a:p>
            <a:pPr algn="l" marL="488632" indent="-244316" lvl="1">
              <a:lnSpc>
                <a:spcPts val="3240"/>
              </a:lnSpc>
            </a:pPr>
            <a:r>
              <a:rPr lang="en-US" b="true" sz="270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Mitigation Strategies</a:t>
            </a:r>
          </a:p>
          <a:p>
            <a:pPr algn="l" marL="488632" indent="-244316" lvl="1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• Validation + confidence scores • Human confirmation workflow</a:t>
            </a:r>
          </a:p>
          <a:p>
            <a:pPr algn="l" marL="488632" indent="-244316" lvl="1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• Simple regional-language UI • FPO aggregation model • Multiple logistics partners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75612" y="359321"/>
            <a:ext cx="1915887" cy="1249099"/>
            <a:chOff x="0" y="0"/>
            <a:chExt cx="2554516" cy="1665465"/>
          </a:xfrm>
        </p:grpSpPr>
        <p:sp>
          <p:nvSpPr>
            <p:cNvPr name="Freeform 15" id="15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554516" cy="17035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FarmPlug AI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762045" y="85649"/>
            <a:ext cx="3313681" cy="1684306"/>
            <a:chOff x="0" y="0"/>
            <a:chExt cx="4418241" cy="2245741"/>
          </a:xfrm>
        </p:grpSpPr>
        <p:sp>
          <p:nvSpPr>
            <p:cNvPr name="Freeform 18" id="18" descr="https://www.sih.gov.in/img1/SIH-Logo.png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IMPACT AND BENEFITS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734892" y="2722112"/>
            <a:ext cx="14027153" cy="5857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20"/>
              </a:lnSpc>
            </a:pPr>
            <a:r>
              <a:rPr lang="en-US" b="true" sz="260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       Im</a:t>
            </a:r>
            <a:r>
              <a:rPr lang="en-US" b="true" sz="260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pact on target audience</a:t>
            </a:r>
          </a:p>
          <a:p>
            <a:pPr algn="l" marL="470535" indent="-235268" lvl="1">
              <a:lnSpc>
                <a:spcPts val="3120"/>
              </a:lnSpc>
            </a:pPr>
            <a:r>
              <a:rPr lang="en-US" sz="2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• Farmers: demand-informed decisions, better selling-window visibility, buyer opportunities, bulk-demand access.</a:t>
            </a:r>
          </a:p>
          <a:p>
            <a:pPr algn="l" marL="470535" indent="-235268" lvl="1">
              <a:lnSpc>
                <a:spcPts val="3120"/>
              </a:lnSpc>
            </a:pPr>
            <a:r>
              <a:rPr lang="en-US" sz="2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• FPOs: aggregate member supply, fulfil bulk requirements, improve visibility and coordinate orders.</a:t>
            </a:r>
          </a:p>
          <a:p>
            <a:pPr algn="l" marL="470535" indent="-235268" lvl="1">
              <a:lnSpc>
                <a:spcPts val="3120"/>
              </a:lnSpc>
            </a:pPr>
            <a:r>
              <a:rPr lang="en-US" sz="2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• Buyers: faster supplier discovery, quantity/quality matching and better procurement planning.</a:t>
            </a:r>
          </a:p>
          <a:p>
            <a:pPr algn="l" marL="470535" indent="-235268" lvl="1">
              <a:lnSpc>
                <a:spcPts val="3120"/>
              </a:lnSpc>
            </a:pPr>
            <a:r>
              <a:rPr lang="en-US" sz="2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• Processors / Exporters: suitable supplier discovery and requirement matching.</a:t>
            </a:r>
          </a:p>
          <a:p>
            <a:pPr algn="l" marL="470535" indent="-235268" lvl="1">
              <a:lnSpc>
                <a:spcPts val="3120"/>
              </a:lnSpc>
            </a:pPr>
          </a:p>
          <a:p>
            <a:pPr algn="l" marL="470535" indent="-235268" lvl="1">
              <a:lnSpc>
                <a:spcPts val="3120"/>
              </a:lnSpc>
            </a:pPr>
            <a:r>
              <a:rPr lang="en-US" b="true" sz="260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Benefits</a:t>
            </a:r>
          </a:p>
          <a:p>
            <a:pPr algn="l" marL="470535" indent="-235268" lvl="1">
              <a:lnSpc>
                <a:spcPts val="3120"/>
              </a:lnSpc>
            </a:pPr>
            <a:r>
              <a:rPr lang="en-US" sz="2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• Consolidated collection • Better delivery planning • Route optimization • Reduced unnecessary movement</a:t>
            </a:r>
          </a:p>
          <a:p>
            <a:pPr algn="l" marL="470535" indent="-235268" lvl="1">
              <a:lnSpc>
                <a:spcPts val="3120"/>
              </a:lnSpc>
            </a:pPr>
          </a:p>
          <a:p>
            <a:pPr algn="l" marL="470535" indent="-235268" lvl="1">
              <a:lnSpc>
                <a:spcPts val="3120"/>
              </a:lnSpc>
            </a:pPr>
            <a:r>
              <a:rPr lang="en-US" b="true" sz="260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Pilot KPIs</a:t>
            </a:r>
          </a:p>
          <a:p>
            <a:pPr algn="l" marL="470535" indent="-235268" lvl="1">
              <a:lnSpc>
                <a:spcPts val="3120"/>
              </a:lnSpc>
            </a:pPr>
            <a:r>
              <a:rPr lang="en-US" sz="2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• Buyer Match Rate • Order Fulfilment Rate • Supply Aggregation Volume</a:t>
            </a:r>
          </a:p>
          <a:p>
            <a:pPr algn="l" marL="470535" indent="-235268" lvl="1">
              <a:lnSpc>
                <a:spcPts val="3120"/>
              </a:lnSpc>
            </a:pPr>
            <a:r>
              <a:rPr lang="en-US" sz="2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• Selling-Window Utilization • Logistics Efficiency • Farmer/FPO Market Access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75612" y="359321"/>
            <a:ext cx="1915887" cy="1249099"/>
            <a:chOff x="0" y="0"/>
            <a:chExt cx="2554516" cy="1665465"/>
          </a:xfrm>
        </p:grpSpPr>
        <p:sp>
          <p:nvSpPr>
            <p:cNvPr name="Freeform 15" id="15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554516" cy="17035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FarmPlug AI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762045" y="85649"/>
            <a:ext cx="3313681" cy="1684306"/>
            <a:chOff x="0" y="0"/>
            <a:chExt cx="4418241" cy="2245741"/>
          </a:xfrm>
        </p:grpSpPr>
        <p:sp>
          <p:nvSpPr>
            <p:cNvPr name="Freeform 18" id="18" descr="https://www.sih.gov.in/img1/SIH-Logo.png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RESEARCH AND REFERENCES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14400" y="2605088"/>
            <a:ext cx="14027153" cy="507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20"/>
              </a:lnSpc>
            </a:pPr>
            <a:r>
              <a:rPr lang="en-US" b="true" sz="260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      </a:t>
            </a:r>
            <a:r>
              <a:rPr lang="en-US" b="true" sz="260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References</a:t>
            </a:r>
          </a:p>
          <a:p>
            <a:pPr algn="l" marL="470535" indent="-235268" lvl="1">
              <a:lnSpc>
                <a:spcPts val="3120"/>
              </a:lnSpc>
            </a:pPr>
            <a:r>
              <a:rPr lang="en-US" sz="2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1. National Agriculture Market (e-NAM) — enam.gov.in</a:t>
            </a:r>
          </a:p>
          <a:p>
            <a:pPr algn="l" marL="470535" indent="-235268" lvl="1">
              <a:lnSpc>
                <a:spcPts val="3120"/>
              </a:lnSpc>
            </a:pPr>
            <a:r>
              <a:rPr lang="en-US" sz="2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2. e-NAM — FPOs — enam.gov.in/stakeholders-Involved/fpos</a:t>
            </a:r>
          </a:p>
          <a:p>
            <a:pPr algn="l" marL="470535" indent="-235268" lvl="1">
              <a:lnSpc>
                <a:spcPts val="3120"/>
              </a:lnSpc>
            </a:pPr>
            <a:r>
              <a:rPr lang="en-US" sz="2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3. e-NAM — Registration &amp; Logistics — enam.gov.in/resources/registration-guideline</a:t>
            </a:r>
          </a:p>
          <a:p>
            <a:pPr algn="l" marL="470535" indent="-235268" lvl="1">
              <a:lnSpc>
                <a:spcPts val="3120"/>
              </a:lnSpc>
            </a:pPr>
            <a:r>
              <a:rPr lang="en-US" sz="2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4. NITI Aayog — Agriculture / Agritech research and reports</a:t>
            </a:r>
          </a:p>
          <a:p>
            <a:pPr algn="l" marL="470535" indent="-235268" lvl="1">
              <a:lnSpc>
                <a:spcPts val="3120"/>
              </a:lnSpc>
            </a:pPr>
          </a:p>
          <a:p>
            <a:pPr algn="l" marL="470535" indent="-235268" lvl="1">
              <a:lnSpc>
                <a:spcPts val="3120"/>
              </a:lnSpc>
            </a:pPr>
            <a:r>
              <a:rPr lang="en-US" b="true" sz="260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Research takeaway</a:t>
            </a:r>
          </a:p>
          <a:p>
            <a:pPr algn="l" marL="470535" indent="-235268" lvl="1">
              <a:lnSpc>
                <a:spcPts val="3120"/>
              </a:lnSpc>
            </a:pPr>
            <a:r>
              <a:rPr lang="en-US" sz="2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Existing agricultural market infrastructure supports digital trading, price discovery, FPO participation and logistics.</a:t>
            </a:r>
          </a:p>
          <a:p>
            <a:pPr algn="l" marL="470535" indent="-235268" lvl="1">
              <a:lnSpc>
                <a:spcPts val="3120"/>
              </a:lnSpc>
            </a:pPr>
          </a:p>
          <a:p>
            <a:pPr algn="l" marL="470535" indent="-235268" lvl="1">
              <a:lnSpc>
                <a:spcPts val="3120"/>
              </a:lnSpc>
            </a:pPr>
            <a:r>
              <a:rPr lang="en-US" sz="2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FarmPlug AI focuses on the predictive intelligence layer: Demand Forecasting • Production Decision Support • Selling-Window Intelligence • Smart Matching • Supply Aggregation • Route Optimization.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75612" y="359321"/>
            <a:ext cx="1915887" cy="1249099"/>
            <a:chOff x="0" y="0"/>
            <a:chExt cx="2554516" cy="1665465"/>
          </a:xfrm>
        </p:grpSpPr>
        <p:sp>
          <p:nvSpPr>
            <p:cNvPr name="Freeform 15" id="15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554516" cy="17035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FarmPlug AI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762045" y="85649"/>
            <a:ext cx="3313681" cy="1684306"/>
            <a:chOff x="0" y="0"/>
            <a:chExt cx="4418241" cy="2245741"/>
          </a:xfrm>
        </p:grpSpPr>
        <p:sp>
          <p:nvSpPr>
            <p:cNvPr name="Freeform 18" id="18" descr="https://www.sih.gov.in/img1/SIH-Logo.png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DAHUTU3pnJc</dc:identifier>
  <dcterms:modified xsi:type="dcterms:W3CDTF">2011-08-01T06:04:30Z</dcterms:modified>
  <cp:revision>1</cp:revision>
  <dc:title>DOC-20260905-WA0002.pptx</dc:title>
</cp:coreProperties>
</file>